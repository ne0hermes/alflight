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288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30F11EF-1639-AFE1-C7AF-08DE8A16ED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437D8D4-1B51-D82C-AE1D-36279E6EB2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A2DD699-5F96-42B9-915C-5833E1B32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4F9729D-12E7-A97E-F401-E802201B9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2F8C534-B483-9E62-2E80-78818E81DB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2790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A06BCE-B9AF-AE49-609D-4EE086B68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F939B6D-8647-75D9-1152-740BD584D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1A60B37-8CB5-1069-5C0B-567FF11FA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6CA7B81-FCAC-327C-1534-847FCD7D7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C015519-D359-743E-AE10-13B3EFAA29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517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A01F2E6-505E-9ADB-3975-D223D44D0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87BF8D2-7307-BA4F-FB2F-C29599B392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E4503B-788C-5C41-CC13-C26F78D976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938395B-C1FF-0057-569C-D9790440F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BA763D-2680-A32D-F688-B6D8D0D0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6770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007FE0-07A6-328A-E7F3-6D7F8B867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527DCA-7719-FF3C-ED71-649922CA6B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76B3F69-12C6-E4C5-A47C-38A64354CE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D021B966-EF9C-954B-D2D2-97B463692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77D0BEC-4C31-805B-AC17-F333983CF9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A868A4-B865-9455-A6BB-6AC0359BD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57321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045D14E-C837-C384-DE89-36D19EBD1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272C632-43C9-118F-15E8-1FEDE34F74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4A26DED-88F6-10D6-5E94-E00BF63872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616557-1B82-ACED-EF80-9644D12045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D3175CE9-DAD4-7595-A758-B9D43301A5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6F37A85F-555A-58E4-C78F-3480890BF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83FE96F-BCCE-F5DA-0198-C092D23FB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4F11D40C-686B-B5F8-0925-73440F17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8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FF84B1-175C-990C-72D7-1992997DE1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84A44F1-3B34-AFDB-B3B6-86853AF1E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82AD76-DBED-40B4-B360-860D80AF9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4B87F18-8260-C92D-9AEE-518E8A1D2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67233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41FEBDA-9E4E-0587-9FB1-723CE1594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2FA7870-99D1-6586-DCF7-596A0690E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E91C2A3-1E6D-489E-C205-89518CC19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489926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A8267FD-2EBA-7330-7618-389A6677F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5D60EE3-56F3-E6E1-B1B8-BD4F81C3BE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3AA2689-866C-E5A7-7712-26B6608BBB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A219F-A4C5-9A45-EAEB-EC2AC0C24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79F8009-85B7-AB4E-6EC9-A7A782614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0478D08-82EC-641F-3093-9CB3D03F9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0709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BA88D43-E3A1-B79B-5529-A7FEA545D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26196217-7CA5-C4AF-CC03-D0ADFA5890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3F3CF6C-335C-AC9D-086E-C7327D888D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4001EB8-9FF0-214E-3D91-D504392D5F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CA649D6-8A9C-BCBF-41C3-E10F2637E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4817392-DE10-D830-E58B-65AAB8E87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71836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A8125D3-A1B0-07BB-BC1C-2E4987D92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0C4508D-B7CA-8D52-6240-9F129C8627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6FC5D0-734A-A80C-5F9B-D6EB3060B9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B86E1C-F67A-D535-2AF3-21403E0FA1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A232A35-DCD1-2712-5612-B81C1D7A6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411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DBC14BB5-539C-C2FE-891A-19AE67A8EF1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3410C7A-E7F0-ACB8-23F5-6120BE3E90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A192DBE-A2EF-7EE9-FE63-AE71B4D37E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1CB7176-1050-B301-6879-28058685E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474406B-762E-261E-69E5-C41D7128A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14857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29D0563-3EDD-20C0-BCF6-36BBAA311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E9C8A12-9A39-0643-9FBC-85104CAF2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784C21D-870C-A296-48F3-5128FA0F1B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2A1C2D-77B2-4227-BA21-B350A6599BD0}" type="datetimeFigureOut">
              <a:rPr lang="fr-FR" smtClean="0"/>
              <a:t>20/11/2025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C5DD4DD-1A87-AE9F-E61D-C5B8892D03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B939CE3-FA58-E28A-8E2A-041C6F823C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77C0F4-2396-42F1-BFD7-46CB1C7C5E0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2407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461959-A470-63FD-F153-26FB95061790}"/>
              </a:ext>
            </a:extLst>
          </p:cNvPr>
          <p:cNvSpPr txBox="1"/>
          <p:nvPr/>
        </p:nvSpPr>
        <p:spPr>
          <a:xfrm>
            <a:off x="1270000" y="1905000"/>
            <a:ext cx="9652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7200" b="1">
                <a:solidFill>
                  <a:srgbClr val="FFFFFF"/>
                </a:solidFill>
              </a:rPr>
              <a:t>ALFlight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3480512-33D4-08F9-468E-28B8DF117A7C}"/>
              </a:ext>
            </a:extLst>
          </p:cNvPr>
          <p:cNvSpPr txBox="1"/>
          <p:nvPr/>
        </p:nvSpPr>
        <p:spPr>
          <a:xfrm>
            <a:off x="1270000" y="3429000"/>
            <a:ext cx="9652000" cy="52322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2800">
                <a:solidFill>
                  <a:srgbClr val="FFFFFF"/>
                </a:solidFill>
              </a:rPr>
              <a:t>Votre assistant de prÃ©paration de vol VFR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DB23432-8AB0-C109-5D54-103B8A9BC20F}"/>
              </a:ext>
            </a:extLst>
          </p:cNvPr>
          <p:cNvSpPr txBox="1"/>
          <p:nvPr/>
        </p:nvSpPr>
        <p:spPr>
          <a:xfrm>
            <a:off x="1270000" y="5842000"/>
            <a:ext cx="9652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1600">
                <a:solidFill>
                  <a:srgbClr val="FFFFFF"/>
                </a:solidFill>
              </a:rPr>
              <a:t>Solution professionnelle pour pilotes privÃ©s â€¢ Version Beta</a:t>
            </a:r>
          </a:p>
        </p:txBody>
      </p:sp>
    </p:spTree>
    <p:extLst>
      <p:ext uri="{BB962C8B-B14F-4D97-AF65-F5344CB8AC3E}">
        <p14:creationId xmlns:p14="http://schemas.microsoft.com/office/powerpoint/2010/main" val="2773763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856873BF-6015-EE47-6051-9146B276C0E6}"/>
              </a:ext>
            </a:extLst>
          </p:cNvPr>
          <p:cNvSpPr txBox="1"/>
          <p:nvPr/>
        </p:nvSpPr>
        <p:spPr>
          <a:xfrm>
            <a:off x="635000" y="381000"/>
            <a:ext cx="10922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600" b="1">
                <a:solidFill>
                  <a:srgbClr val="93163C"/>
                </a:solidFill>
              </a:rPr>
              <a:t>La PrÃ©paration de Vol : Un DÃ©fi Complexe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2B4F099-9A65-67C9-2479-719850D57B77}"/>
              </a:ext>
            </a:extLst>
          </p:cNvPr>
          <p:cNvSpPr txBox="1"/>
          <p:nvPr/>
        </p:nvSpPr>
        <p:spPr>
          <a:xfrm>
            <a:off x="1016000" y="1524000"/>
            <a:ext cx="10160000" cy="424731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>
                <a:solidFill>
                  <a:srgbClr val="6B7280"/>
                </a:solidFill>
              </a:rPr>
              <a:t>âŒ  Sources de donnÃ©es multiples et dispersÃ©es
    â€¢ SIA, MÃ©tÃ©o France, NOTAM, cartes VAC...
    â€¢ Pas de vue centralisÃ©e
âŒ  Calculs manuels fastidieux et sources d'erreurs
    â€¢ Navigation, carburant, masse et centrage
    â€¢ Performances dÃ©collage/atterrissage
âŒ  Risque d'oublis critiques
    â€¢ Checklists, terrains de dÃ©routement
    â€¢ VÃ©rifications rÃ©glementaires
âŒ  Temps de prÃ©paration important
    â€¢ 45-90 minutes par vol en moyenne
    â€¢ Perte de temps prÃ©cieux</a:t>
            </a:r>
          </a:p>
        </p:txBody>
      </p:sp>
    </p:spTree>
    <p:extLst>
      <p:ext uri="{BB962C8B-B14F-4D97-AF65-F5344CB8AC3E}">
        <p14:creationId xmlns:p14="http://schemas.microsoft.com/office/powerpoint/2010/main" val="375832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08A57CA-03D5-619F-ED8C-D9C1BCFB33DF}"/>
              </a:ext>
            </a:extLst>
          </p:cNvPr>
          <p:cNvSpPr txBox="1"/>
          <p:nvPr/>
        </p:nvSpPr>
        <p:spPr>
          <a:xfrm>
            <a:off x="635000" y="381000"/>
            <a:ext cx="10922000" cy="64633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600" b="1">
                <a:solidFill>
                  <a:srgbClr val="93163C"/>
                </a:solidFill>
              </a:rPr>
              <a:t>ALFlight : La Solution Tout-en-Un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2090E58-F9AD-F170-87DD-BE3963AE9D35}"/>
              </a:ext>
            </a:extLst>
          </p:cNvPr>
          <p:cNvSpPr txBox="1"/>
          <p:nvPr/>
        </p:nvSpPr>
        <p:spPr>
          <a:xfrm>
            <a:off x="1016000" y="1524000"/>
            <a:ext cx="10160000" cy="452431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>
                <a:solidFill>
                  <a:srgbClr val="6B7280"/>
                </a:solidFill>
              </a:rPr>
              <a:t>âœ…  Plateforme web progressive (PWA)
    â€¢ Accessible sur ordinateur, tablette et smartphone
    â€¢ Installation sur Ã©cran d'accueil iOS/Android
âœ…  DonnÃ©es officielles synchronisÃ©es
    â€¢ SIA, AIXM 4.5, OpenAIP, CheckWX
    â€¢ Mise Ã  jour automatique (cycle AIRAC)
âœ…  Calculs automatisÃ©s et prÃ©cis
    â€¢ Navigation, carburant, masse et centrage
    â€¢ Performances dÃ©collage/atterrissage avec abaques
âœ…  SÃ©curitÃ© renforcÃ©e
    â€¢ DÃ©tection zones dangereuses
    â€¢ Terrains de dÃ©routement intelligents
    â€¢ Checklists personnalisÃ©es</a:t>
            </a:r>
          </a:p>
        </p:txBody>
      </p:sp>
    </p:spTree>
    <p:extLst>
      <p:ext uri="{BB962C8B-B14F-4D97-AF65-F5344CB8AC3E}">
        <p14:creationId xmlns:p14="http://schemas.microsoft.com/office/powerpoint/2010/main" val="1498331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154EE88-FB7F-92AF-23CB-15589E1B09FE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Modules Principaux : Navigation &amp; MÃ©tÃ©o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B89D6E-9A05-A5D9-F580-6852749211CF}"/>
              </a:ext>
            </a:extLst>
          </p:cNvPr>
          <p:cNvSpPr txBox="1"/>
          <p:nvPr/>
        </p:nvSpPr>
        <p:spPr>
          <a:xfrm>
            <a:off x="1016000" y="1397000"/>
            <a:ext cx="10160000" cy="37856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ðŸ§­  MODULE NAVIGATION
â€¢ SÃ©lection aÃ©rodromes + points VFR (493 aÃ©rodromes FR)
â€¢ Calcul automatique routes, caps, temps de vol
â€¢ Navigation circulaire (retour au dÃ©part)
â€¢ Carte interactive temps rÃ©el avec waypoints
â€¢ Analyse vent en route (vent effectif, dÃ©rive)
â€¢ DÃ©tection automatique zones dangereuses (P, D, R)
ðŸŒ¤ï¸  MODULE MÃ‰TÃ‰O
â€¢ METAR/TAF temps rÃ©el (API CheckWX)
â€¢ DÃ©codage automatique (vent, visibilitÃ©, QNH, tempÃ©rature)
â€¢ MÃ©tÃ©o dÃ©part, arrivÃ©e, dÃ©routements
â€¢ Suggestion piste selon vent
â€¢ Historique et actualisation manuelle
â€¢ Alertes conditions mÃ©tÃ©o dÃ©gradÃ©es</a:t>
            </a:r>
          </a:p>
        </p:txBody>
      </p:sp>
    </p:spTree>
    <p:extLst>
      <p:ext uri="{BB962C8B-B14F-4D97-AF65-F5344CB8AC3E}">
        <p14:creationId xmlns:p14="http://schemas.microsoft.com/office/powerpoint/2010/main" val="25443076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36E24DAF-8CC8-A7A5-0B27-0D2003787B6E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Modules Principaux : Carburant &amp; Performances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E3930E7-2500-866D-D1E3-165E90962927}"/>
              </a:ext>
            </a:extLst>
          </p:cNvPr>
          <p:cNvSpPr txBox="1"/>
          <p:nvPr/>
        </p:nvSpPr>
        <p:spPr>
          <a:xfrm>
            <a:off x="1016000" y="1397000"/>
            <a:ext cx="10160000" cy="378565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â›½  MODULE CARBURANT
â€¢ Calcul automatique Trip Fuel (consommation en route)
â€¢ Contingency Fuel (5% du trip, min 1 gal)
â€¢ Final Reserve (30/45 min selon rÃ¨gles VFR/IFR)
â€¢ Alternate Fuel (carburant dÃ©routements)
â€¢ VÃ©rification FOB (Fuel On Board) suffisant
â€¢ Support multi-unitÃ©s (L, gal, kg, lbs)
âœˆï¸  MODULE PERFORMANCES
â€¢ Calcul performances dÃ©collage/atterrissage
â€¢ Abaques numÃ©riques personnalisÃ©s par avion
â€¢ Facteurs correctifs (altitude, tempÃ©rature, vent, pente)
â€¢ TempÃ©ratures depuis METAR (sÃ©curitÃ© critique)
â€¢ Distance nÃ©cessaire vs disponible
â€¢ Alertes pistes trop courtes</a:t>
            </a:r>
          </a:p>
        </p:txBody>
      </p:sp>
    </p:spTree>
    <p:extLst>
      <p:ext uri="{BB962C8B-B14F-4D97-AF65-F5344CB8AC3E}">
        <p14:creationId xmlns:p14="http://schemas.microsoft.com/office/powerpoint/2010/main" val="21152278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CFC6411-605C-21F1-7687-CC5A30F503A1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Modules Principaux : Avion &amp; SÃ©curitÃ©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B736819-17E5-44F2-80C5-1A22AB2C6808}"/>
              </a:ext>
            </a:extLst>
          </p:cNvPr>
          <p:cNvSpPr txBox="1"/>
          <p:nvPr/>
        </p:nvSpPr>
        <p:spPr>
          <a:xfrm>
            <a:off x="1016000" y="1397000"/>
            <a:ext cx="10160000" cy="4770537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âš–ï¸  MODULE MASSE &amp; CENTRAGE
â€¢ Calcul automatique poids total et CG
â€¢ ScÃ©narios : au dÃ©collage, Ã  l'atterrissage, zÃ©ro fuel
â€¢ Graphique enveloppe de centrage temps rÃ©el
â€¢ Alertes hors limites (avant/arriÃ¨re)
â€¢ Compartiments bagages configurables
ðŸ›©ï¸  MODULE AVION
â€¢ Gestion multi-avions (immatriculation, type)
â€¢ Import manuel des abaques (MANEX PDF)
â€¢ Extraction IA des performances (Ã  venir)
â€¢ Photos et documents techniques
â€¢ Limites de masse, consommation, vitesses
ðŸ”§  MODULE CARNET TECHNIQUE
â€¢ Suivi entretiens et maintenances
â€¢ Log technique MEL/CDL
â€¢ Ã‰quipements de survie SAR
â€¢ DÃ©tection zones dangereuses (P, D, R)</a:t>
            </a:r>
          </a:p>
        </p:txBody>
      </p:sp>
    </p:spTree>
    <p:extLst>
      <p:ext uri="{BB962C8B-B14F-4D97-AF65-F5344CB8AC3E}">
        <p14:creationId xmlns:p14="http://schemas.microsoft.com/office/powerpoint/2010/main" val="8546259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2BB1B289-C06E-1EB5-8B6F-8C391A7C68E7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Modules ComplÃ©mentaires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DCE233B-CB4D-CD9F-31EA-E1E91D44C717}"/>
              </a:ext>
            </a:extLst>
          </p:cNvPr>
          <p:cNvSpPr txBox="1"/>
          <p:nvPr/>
        </p:nvSpPr>
        <p:spPr>
          <a:xfrm>
            <a:off x="1016000" y="1397000"/>
            <a:ext cx="10160000" cy="575542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ðŸ“‹  MODULE CHECKLIST
â€¢ Checklists personnalisables par avion
â€¢ Phases : prÃ©-vol, dÃ©marrage, roulage, dÃ©collage, etc.
â€¢ Suivi progression avec items cochables
â€¢ Alertes items critiques oubliÃ©s
âœˆï¸  MODULE DÃ‰ROUTEMENTS
â€¢ SÃ©lection intelligente terrains de dÃ©gagement
â€¢ Calcul automatique distances, carburant, temps
â€¢ CritÃ¨res : longueur piste, services, proximitÃ©
â€¢ MÃ©tÃ©o temps rÃ©el pour alternates
â€¢ Carte interactive avec rayon d'action
ðŸ“–  MODULE CARNET DE VOL
â€¢ Enregistrement automatique des vols
â€¢ Suivi heures de vol pilote
â€¢ Statistiques : heures totales, types d'avions
â€¢ Export PDF pour DGAC
ðŸ“š  MODULE VAC &amp; RÃ‰FÃ‰RENCES
â€¢ Cartes VAC aÃ©rodromes franÃ§ais (SIA)
â€¢ RÃ©fÃ©rences rÃ©glementaires aÃ©ronautiques
â€¢ AccÃ¨s rapide documentation technique</a:t>
            </a:r>
          </a:p>
        </p:txBody>
      </p:sp>
    </p:spTree>
    <p:extLst>
      <p:ext uri="{BB962C8B-B14F-4D97-AF65-F5344CB8AC3E}">
        <p14:creationId xmlns:p14="http://schemas.microsoft.com/office/powerpoint/2010/main" val="28835477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5A3314A-867E-4896-CFCA-743BB310A177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Architecture Technique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37BA690-2B79-5098-83DA-5941AB418396}"/>
              </a:ext>
            </a:extLst>
          </p:cNvPr>
          <p:cNvSpPr txBox="1"/>
          <p:nvPr/>
        </p:nvSpPr>
        <p:spPr>
          <a:xfrm>
            <a:off x="1016000" y="1397000"/>
            <a:ext cx="10160000" cy="501675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ðŸ”§  STACK TECHNIQUE
â€¢ Frontend : React 18 + Vite 7 + Material-UI 7
â€¢ State Management : Zustand 4.5 + Context API
â€¢ Backend : Supabase (PostgreSQL + Auth + Storage)
â€¢ Mobile : Capacitor 7.4 (iOS/Android)
â€¢ Cartes : Leaflet.js + OpenLayers
â€¢ Build : PWA installable (Service Worker)
ðŸ“Š  DONNÃ‰ES AÃ‰RONAUTIQUES
â€¢ AIXM 4.5 France (SIA - cycle AIRAC 2025-10-02)
â€¢ OpenAIP (aÃ©rodromes, espaces aÃ©riens)
â€¢ CheckWX API (METAR/TAF temps rÃ©el)
â€¢ Mise Ã  jour automatique tous les 28 jours
ðŸ”  SÃ‰CURITÃ‰ &amp; PERFORMANCE
â€¢ Authentification Supabase (JWT tokens)
â€¢ Stockage local IndexedDB (offline-first)
â€¢ Cache intelligent (Service Worker)
â€¢ Chiffrement donnÃ©es sensibles
â€¢ Backup automatique cloud</a:t>
            </a:r>
          </a:p>
        </p:txBody>
      </p:sp>
    </p:spTree>
    <p:extLst>
      <p:ext uri="{BB962C8B-B14F-4D97-AF65-F5344CB8AC3E}">
        <p14:creationId xmlns:p14="http://schemas.microsoft.com/office/powerpoint/2010/main" val="22382284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13E47051-9CDA-43CB-4EA5-61E8967888DA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ModÃ¨le Ã‰conomique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C010F8B-69EA-660E-2796-9F77E9240B65}"/>
              </a:ext>
            </a:extLst>
          </p:cNvPr>
          <p:cNvSpPr txBox="1"/>
          <p:nvPr/>
        </p:nvSpPr>
        <p:spPr>
          <a:xfrm>
            <a:off x="1016000" y="1397000"/>
            <a:ext cx="10160000" cy="600164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ðŸ’Ž  APPLICATION PREMIUM PAYANTE
âœ…  Abonnement requis dÃ¨s le dÃ©but
    â€¢ Toutes les fonctionnalitÃ©s incluses
    â€¢ QualitÃ© professionnelle garantie
    â€¢ Support prioritaire
    â€¢ Mises Ã  jour continues
ðŸŽ¯  PUBLIC CIBLE
    â€¢ Pilotes privÃ©s VFR (France)
    â€¢ AÃ©ro-clubs et Ã©coles de pilotage
    â€¢ PropriÃ©taires d'avions
    â€¢ EstimÃ© : 40 000+ pilotes en France
ðŸ“ˆ  PROPOSITION DE VALEUR
    â€¢ Gain de temps : 45-90 min â†’ 15-20 min par vol
    â€¢ SÃ©curitÃ© accrue : vÃ©rifications automatiques
    â€¢ DonnÃ©es officielles toujours Ã  jour
    â€¢ Alternative moderne aux solutions obsolÃ¨tes
    â€¢ Accessible partout (PC, tablette, smartphone)
ðŸ’°  TARIFICATION (Ã  dÃ©finir selon phase Beta)
    â€¢ Abonnement mensuel ou annuel
    â€¢ Tarif prÃ©fÃ©rentiel testeurs Beta</a:t>
            </a:r>
          </a:p>
        </p:txBody>
      </p:sp>
    </p:spTree>
    <p:extLst>
      <p:ext uri="{BB962C8B-B14F-4D97-AF65-F5344CB8AC3E}">
        <p14:creationId xmlns:p14="http://schemas.microsoft.com/office/powerpoint/2010/main" val="1992185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70DA1057-31AD-F9E7-9DA2-BD52F6521FC3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Roadmap &amp; Ã‰volutions Futures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6C9938F-EA10-72F8-0273-5B6DBA2D746F}"/>
              </a:ext>
            </a:extLst>
          </p:cNvPr>
          <p:cNvSpPr txBox="1"/>
          <p:nvPr/>
        </p:nvSpPr>
        <p:spPr>
          <a:xfrm>
            <a:off x="1016000" y="1397000"/>
            <a:ext cx="10160000" cy="624786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ðŸš€  PHASE BETA (EN COURS)
âœ…  13 modules fonctionnels opÃ©rationnels
âœ…  Authentification et stockage cloud
âœ…  DonnÃ©es aÃ©ronautiques officielles FR
âœ…  Interface PWA responsive (PC/tablette/mobile)
ðŸ”„  Tests utilisateurs et corrections bugs
ðŸ”„  Optimisations performances et UX
ðŸ“…  PHASE 1 - Q2 2025
ðŸŽ¯  Extraction automatique abaques IA (MANEX PDF)
ðŸŽ¯  Cartes mÃ©tÃ©o aÃ©ronautiques (WINTEM/TEMSI)
ðŸŽ¯  Partage plans de vol communautÃ©
ðŸŽ¯  Export DGAC officiel (carnet de vol)
ðŸ“…  PHASE 2 - Q3-Q4 2025
ðŸŽ¯  Support IFR (SID, STAR, approches)
ðŸŽ¯  IntÃ©gration NOTAM temps rÃ©el
ðŸŽ¯  Planification multi-Ã©tapes avancÃ©e
ðŸŽ¯  Synchronisation multi-appareils
ðŸŽ¯  API publique pour tiers (clubs, Ã©coles)
ðŸŒ  PHASE 3 - 2026
ðŸŽ¯  Extension pays europÃ©ens (UK, DE, ES, IT)
ðŸŽ¯  CommunautÃ© pilotes (partage expÃ©riences, photos)
ðŸŽ¯  Mode offline complet (sans connexion)</a:t>
            </a:r>
          </a:p>
        </p:txBody>
      </p:sp>
    </p:spTree>
    <p:extLst>
      <p:ext uri="{BB962C8B-B14F-4D97-AF65-F5344CB8AC3E}">
        <p14:creationId xmlns:p14="http://schemas.microsoft.com/office/powerpoint/2010/main" val="18239911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1E911EA5-9F56-F2B4-3872-7CBA9A2141EC}"/>
              </a:ext>
            </a:extLst>
          </p:cNvPr>
          <p:cNvSpPr txBox="1"/>
          <p:nvPr/>
        </p:nvSpPr>
        <p:spPr>
          <a:xfrm>
            <a:off x="635000" y="381000"/>
            <a:ext cx="10922000" cy="584775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3200" b="1">
                <a:solidFill>
                  <a:srgbClr val="93163C"/>
                </a:solidFill>
              </a:rPr>
              <a:t>Interface &amp; ExpÃ©rience Utilisateur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97BC895-F2AB-C4F0-B031-B3E5BA0FD08D}"/>
              </a:ext>
            </a:extLst>
          </p:cNvPr>
          <p:cNvSpPr txBox="1"/>
          <p:nvPr/>
        </p:nvSpPr>
        <p:spPr>
          <a:xfrm>
            <a:off x="1270000" y="1905000"/>
            <a:ext cx="9652000" cy="526297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fr-FR" sz="1600">
                <a:solidFill>
                  <a:srgbClr val="6B7280"/>
                </a:solidFill>
              </a:rPr>
              <a:t>ðŸŽ¨  DESIGN MODERNE &amp; INTUITIF
â€¢ Interface Ã©purÃ©e, navigation simple
â€¢ Couleurs professionnelles (bordeaux #93163C)
â€¢ Dark mode disponible
â€¢ Responsive design (PC, tablette, mobile)
â€¢ Typographie : Space Grotesk + Inter
ðŸ“±  EXPÃ‰RIENCE UTILISATEUR
â€¢ Assistant de prÃ©paration de vol guidÃ© (7 Ã©tapes)
â€¢ Formulaires intelligents avec suggestions
â€¢ Feedback temps rÃ©el (calculs instantanÃ©s)
â€¢ Alertes visuelles et sonores (sÃ©curitÃ©)
â€¢ Mode hors-ligne partiel (donnÃ©es en cache)
ðŸ’¡  ACCESSIBILITÃ‰
â€¢ Contraste Ã©levÃ©, lisibilitÃ© optimale
â€¢ Navigation clavier complÃ¨te
â€¢ Tooltips et aides contextuelles
â€¢ Support multi-unitÃ©s (mÃ©trique/impÃ©rial)
[Espace rÃ©servÃ© pour captures d'Ã©cran ou vidÃ©o dÃ©mo]</a:t>
            </a:r>
          </a:p>
        </p:txBody>
      </p:sp>
    </p:spTree>
    <p:extLst>
      <p:ext uri="{BB962C8B-B14F-4D97-AF65-F5344CB8AC3E}">
        <p14:creationId xmlns:p14="http://schemas.microsoft.com/office/powerpoint/2010/main" val="55542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0C67E152-2768-0A0E-C011-4071F4652C70}"/>
              </a:ext>
            </a:extLst>
          </p:cNvPr>
          <p:cNvSpPr txBox="1"/>
          <p:nvPr/>
        </p:nvSpPr>
        <p:spPr>
          <a:xfrm>
            <a:off x="1270000" y="1524000"/>
            <a:ext cx="9652000" cy="1200329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3600" b="1">
                <a:solidFill>
                  <a:srgbClr val="FFFFFF"/>
                </a:solidFill>
              </a:rPr>
              <a:t>PrÃªt Ã  RÃ©volutionner Votre PrÃ©paration de Vol ?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0F6854B-24CA-BE21-270B-A9758F879031}"/>
              </a:ext>
            </a:extLst>
          </p:cNvPr>
          <p:cNvSpPr txBox="1"/>
          <p:nvPr/>
        </p:nvSpPr>
        <p:spPr>
          <a:xfrm>
            <a:off x="1905000" y="3048000"/>
            <a:ext cx="8382000" cy="286232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fr-FR" sz="2000">
                <a:solidFill>
                  <a:srgbClr val="FFFFFF"/>
                </a:solidFill>
              </a:rPr>
              <a:t>âœˆï¸  ALFlight : La solution professionnelle pour pilotes VFR
ðŸ“§  Contact : contact@alflight.fr
ðŸŒ  Web : www.alflight.fr (Ã  venir)
ðŸŽ¯  Rejoignez la Beta et participez Ã  l'Ã©volution d'ALFlight !
Merci de votre attention.
Questions / Ã‰changes</a:t>
            </a:r>
          </a:p>
        </p:txBody>
      </p:sp>
    </p:spTree>
    <p:extLst>
      <p:ext uri="{BB962C8B-B14F-4D97-AF65-F5344CB8AC3E}">
        <p14:creationId xmlns:p14="http://schemas.microsoft.com/office/powerpoint/2010/main" val="2420850313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⏱️ Préparer un vol SANS ALFlight...</a:t>
            </a:r>
          </a:p>
          <a:p>
            <a:pPr algn="ctr">
              <a:spcBef>
                <a:spcPts val="2000"/>
              </a:spcBef>
              <a:defRPr sz="3200">
                <a:solidFill>
                  <a:srgbClr val="FFFFFF"/>
                </a:solidFill>
              </a:defRPr>
            </a:pPr>
            <a:r>
              <a:t>Bienvenue dans le cauchemar du pilote moderne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Étape 1/5 : Recherche et Collecte des Documents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Durée moyenne : 45-60 minutes (si tout va bien...)</a:t>
            </a:r>
          </a:p>
          <a:p>
            <a:pPr>
              <a:spcBef>
                <a:spcPts val="800"/>
              </a:spcBef>
              <a:defRPr sz="1600"/>
            </a:pPr>
            <a:r>
              <a:t>📄 Rechercher manuellement chaque NOTAM (15-20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Ouvrir le site SIA (Aeroweb) → Naviguer dans les menus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les NOTAM aérodrome de départ (LFST)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les NOTAM aérodrome d'arrivée (LFPO)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les NOTAM en route (zones traversées)</a:t>
            </a:r>
          </a:p>
          <a:p>
            <a:pPr lvl="1">
              <a:spcBef>
                <a:spcPts val="400"/>
              </a:spcBef>
              <a:defRPr sz="1400"/>
            </a:pPr>
            <a:r>
              <a:t>  • Lire et trier manuellement les NOTAM pertinents</a:t>
            </a:r>
          </a:p>
          <a:p>
            <a:pPr lvl="1">
              <a:spcBef>
                <a:spcPts val="400"/>
              </a:spcBef>
              <a:defRPr sz="1400"/>
            </a:pPr>
            <a:r>
              <a:t>  • Noter sur papier ceux qui impactent le vol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🌦️ Récupérer les METAR/TAF (5-10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Ouvrir un autre site météo (Météo France, AWC...)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METAR départ, arrivée, dégagements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TAF pour l'heure prévue</a:t>
            </a:r>
          </a:p>
          <a:p>
            <a:pPr lvl="1">
              <a:spcBef>
                <a:spcPts val="400"/>
              </a:spcBef>
              <a:defRPr sz="1400"/>
            </a:pPr>
            <a:r>
              <a:t>  • Décoder manuellement les METAR/TAF (groupes nuages, vents...)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Évaluer si les conditions sont VMC/IMC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🗺️ Télécharger les cartes VAC (10-15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Télécharger PDF VAC départ (SIA)</a:t>
            </a:r>
          </a:p>
          <a:p>
            <a:pPr lvl="1">
              <a:spcBef>
                <a:spcPts val="400"/>
              </a:spcBef>
              <a:defRPr sz="1400"/>
            </a:pPr>
            <a:r>
              <a:t>  • Télécharger PDF VAC arrivée</a:t>
            </a:r>
          </a:p>
          <a:p>
            <a:pPr lvl="1">
              <a:spcBef>
                <a:spcPts val="400"/>
              </a:spcBef>
              <a:defRPr sz="1400"/>
            </a:pPr>
            <a:r>
              <a:t>  • Vérifier dates de validité (périmées ?)</a:t>
            </a:r>
          </a:p>
          <a:p>
            <a:pPr lvl="1">
              <a:spcBef>
                <a:spcPts val="400"/>
              </a:spcBef>
              <a:defRPr sz="1400"/>
            </a:pPr>
            <a:r>
              <a:t>  • Imprimer les VAC (ou les avoir sur tablette séparée)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📚 Sortir le manuel de vol avion (5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dans la sacoche/cockpit le POH papier</a:t>
            </a:r>
          </a:p>
          <a:p>
            <a:pPr lvl="1">
              <a:spcBef>
                <a:spcPts val="400"/>
              </a:spcBef>
              <a:defRPr sz="1400"/>
            </a:pPr>
            <a:r>
              <a:t>  • S'assurer d'avoir la bonne version (DA40 NG, C172, PA28...)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Étape 2/5 : Planification de la Route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Durée moyenne : 45-60 minutes</a:t>
            </a:r>
          </a:p>
          <a:p>
            <a:pPr>
              <a:spcBef>
                <a:spcPts val="800"/>
              </a:spcBef>
              <a:defRPr sz="1600"/>
            </a:pPr>
            <a:r>
              <a:t>🗺️ Tracer la route manuellement (20-30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Sortir la carte OACI papier 1/500 000</a:t>
            </a:r>
          </a:p>
          <a:p>
            <a:pPr lvl="1">
              <a:spcBef>
                <a:spcPts val="400"/>
              </a:spcBef>
              <a:defRPr sz="1400"/>
            </a:pPr>
            <a:r>
              <a:t>  • Tracer au crayon la route entre LFST et LFPO</a:t>
            </a:r>
          </a:p>
          <a:p>
            <a:pPr lvl="1">
              <a:spcBef>
                <a:spcPts val="400"/>
              </a:spcBef>
              <a:defRPr sz="1400"/>
            </a:pPr>
            <a:r>
              <a:t>  • Choisir des waypoints visuels (villes, lacs, routes...)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Mesurer les distances avec une règle graduée</a:t>
            </a:r>
          </a:p>
          <a:p>
            <a:pPr lvl="1">
              <a:spcBef>
                <a:spcPts val="400"/>
              </a:spcBef>
              <a:defRPr sz="1400"/>
            </a:pPr>
            <a:r>
              <a:t>  • Mesurer les caps magnétiques avec un rapporteur</a:t>
            </a:r>
          </a:p>
          <a:p>
            <a:pPr lvl="1">
              <a:spcBef>
                <a:spcPts val="400"/>
              </a:spcBef>
              <a:defRPr sz="1400"/>
            </a:pPr>
            <a:r>
              <a:t>  • Corriger les caps pour la déclinaison magnétique (+1° en France)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⛰️ Vérifier les altitudes minimales (10-15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Identifier le relief sur la carte (courbes de niveau)</a:t>
            </a:r>
          </a:p>
          <a:p>
            <a:pPr lvl="1">
              <a:spcBef>
                <a:spcPts val="400"/>
              </a:spcBef>
              <a:defRPr sz="1400"/>
            </a:pPr>
            <a:r>
              <a:t>  • Trouver le point culminant de chaque segment</a:t>
            </a:r>
          </a:p>
          <a:p>
            <a:pPr lvl="1">
              <a:spcBef>
                <a:spcPts val="400"/>
              </a:spcBef>
              <a:defRPr sz="1400"/>
            </a:pPr>
            <a:r>
              <a:t>  • Ajouter marge de sécurité 1000 ft (VFR) ou 2000 ft (montagne)</a:t>
            </a:r>
          </a:p>
          <a:p>
            <a:pPr lvl="1">
              <a:spcBef>
                <a:spcPts val="400"/>
              </a:spcBef>
              <a:defRPr sz="1400"/>
            </a:pPr>
            <a:r>
              <a:t>  • Vérifier les planchers des espaces aériens (TMA, CTR...)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✈️ Calculer temps de vol et carburant (15-20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Estimer la vitesse sol (TAS + vent)</a:t>
            </a:r>
          </a:p>
          <a:p>
            <a:pPr lvl="1">
              <a:spcBef>
                <a:spcPts val="400"/>
              </a:spcBef>
              <a:defRPr sz="1400" b="1">
                <a:solidFill>
                  <a:srgbClr val="EF4444"/>
                </a:solidFill>
              </a:defRPr>
            </a:pPr>
            <a:r>
              <a:t>  • ❌ Problème : Vent sur route ? Faut chercher les vents en altitude...</a:t>
            </a:r>
          </a:p>
          <a:p>
            <a:pPr lvl="1">
              <a:spcBef>
                <a:spcPts val="400"/>
              </a:spcBef>
              <a:defRPr sz="1400"/>
            </a:pPr>
            <a:r>
              <a:t>  • Ouvrir ENCORE un autre site (Windy, Meteoblue...)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temps de vol segment par segment : T = D / GS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consommation : Fuel = Time × Flow (chercher flow dans POH...)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Ajouter réserves réglementaires (30 min jour, 45 min nuit)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Étape 3/5 : Calculs de Performances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Durée moyenne : 30-45 minutes (avec erreurs fréquentes...)</a:t>
            </a:r>
          </a:p>
          <a:p>
            <a:pPr>
              <a:spcBef>
                <a:spcPts val="800"/>
              </a:spcBef>
              <a:defRPr sz="1600"/>
            </a:pPr>
            <a:r>
              <a:t>📊 Performances décollage (15-20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la température actuelle dans le METAR (décodage manuel)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Altitude Pression : PA = Elev + (1013-QNH) × 27</a:t>
            </a:r>
          </a:p>
          <a:p>
            <a:pPr lvl="1">
              <a:spcBef>
                <a:spcPts val="400"/>
              </a:spcBef>
              <a:defRPr sz="1400" b="1">
                <a:solidFill>
                  <a:srgbClr val="EF4444"/>
                </a:solidFill>
              </a:defRPr>
            </a:pPr>
            <a:r>
              <a:t>  • ❌ Problème : Besoin d'une calculatrice...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Altitude Densité : DA = PA + 120 × (OAT - ISA)</a:t>
            </a:r>
          </a:p>
          <a:p>
            <a:pPr lvl="1">
              <a:spcBef>
                <a:spcPts val="400"/>
              </a:spcBef>
              <a:defRPr sz="1400"/>
            </a:pPr>
            <a:r>
              <a:t>  • Ouvrir le POH à la section 'Takeoff Performance'</a:t>
            </a:r>
          </a:p>
          <a:p>
            <a:pPr lvl="1">
              <a:spcBef>
                <a:spcPts val="400"/>
              </a:spcBef>
              <a:defRPr sz="1400"/>
            </a:pPr>
            <a:r>
              <a:t>  • Trouver l'abaque correspondant (piste herbe ou dur ?)</a:t>
            </a:r>
          </a:p>
          <a:p>
            <a:pPr lvl="1">
              <a:spcBef>
                <a:spcPts val="400"/>
              </a:spcBef>
              <a:defRPr sz="1400"/>
            </a:pPr>
            <a:r>
              <a:t>  • Lire graphiquement la distance de décollage (imprécis ±10%)</a:t>
            </a:r>
          </a:p>
          <a:p>
            <a:pPr lvl="1">
              <a:spcBef>
                <a:spcPts val="400"/>
              </a:spcBef>
              <a:defRPr sz="1400"/>
            </a:pPr>
            <a:r>
              <a:t>  • Appliquer facteurs correctifs manuels :</a:t>
            </a:r>
          </a:p>
          <a:p>
            <a:pPr lvl="1">
              <a:spcBef>
                <a:spcPts val="400"/>
              </a:spcBef>
              <a:defRPr sz="1400"/>
            </a:pPr>
            <a:r>
              <a:t>    - Vent de face/arrière : ±10% par 10kt</a:t>
            </a:r>
          </a:p>
          <a:p>
            <a:pPr lvl="1">
              <a:spcBef>
                <a:spcPts val="400"/>
              </a:spcBef>
              <a:defRPr sz="1400"/>
            </a:pPr>
            <a:r>
              <a:t>    - Pente piste : +10% par 1% de pente montante</a:t>
            </a:r>
          </a:p>
          <a:p>
            <a:pPr lvl="1">
              <a:spcBef>
                <a:spcPts val="400"/>
              </a:spcBef>
              <a:defRPr sz="1400"/>
            </a:pPr>
            <a:r>
              <a:t>    - Herbe : +20% de la distance</a:t>
            </a:r>
          </a:p>
          <a:p>
            <a:pPr lvl="1">
              <a:spcBef>
                <a:spcPts val="400"/>
              </a:spcBef>
              <a:defRPr sz="1400"/>
            </a:pPr>
            <a:r>
              <a:t>    - Piste humide : +15%</a:t>
            </a:r>
          </a:p>
          <a:p>
            <a:pPr lvl="1">
              <a:spcBef>
                <a:spcPts val="400"/>
              </a:spcBef>
              <a:defRPr sz="1400"/>
            </a:pPr>
            <a:r>
              <a:t>  • Ajouter marge sécurité 50% (réglementaire)</a:t>
            </a:r>
          </a:p>
          <a:p>
            <a:pPr lvl="1">
              <a:spcBef>
                <a:spcPts val="400"/>
              </a:spcBef>
              <a:defRPr sz="1400" b="1">
                <a:solidFill>
                  <a:srgbClr val="EF4444"/>
                </a:solidFill>
              </a:defRPr>
            </a:pPr>
            <a:r>
              <a:t>  • ⚠️ ATTENTION : Oublier UN SEUL facteur = sous-estimation dangereuse !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📊 Performances atterrissage (15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METAR destination (vent, température...)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Refaire TOUS les calculs PA/DA pour l'arrivée</a:t>
            </a:r>
          </a:p>
          <a:p>
            <a:pPr lvl="1">
              <a:spcBef>
                <a:spcPts val="400"/>
              </a:spcBef>
              <a:defRPr sz="1400"/>
            </a:pPr>
            <a:r>
              <a:t>  • Lire abaque atterrissage dans POH</a:t>
            </a:r>
          </a:p>
          <a:p>
            <a:pPr lvl="1">
              <a:spcBef>
                <a:spcPts val="400"/>
              </a:spcBef>
              <a:defRPr sz="1400"/>
            </a:pPr>
            <a:r>
              <a:t>  • Appliquer facteurs correctifs (vent, pente, surface...)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Vérifier longueur piste suffisante avec marges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Étape 4/5 : Weight &amp; Balance et Check Final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Durée moyenne : 30-40 minutes</a:t>
            </a:r>
          </a:p>
          <a:p>
            <a:pPr>
              <a:spcBef>
                <a:spcPts val="800"/>
              </a:spcBef>
              <a:defRPr sz="1600"/>
            </a:pPr>
            <a:r>
              <a:t>⚖️ Masse et Centrage (15-20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Chercher masse à vide avion (Carnet de Route)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masse équipage : 2 personnes × 77 kg (forfait EASA)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masse bagages (estimation...)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masse carburant : Fuel(L) × 0.72 kg/L</a:t>
            </a:r>
          </a:p>
          <a:p>
            <a:pPr lvl="1">
              <a:spcBef>
                <a:spcPts val="400"/>
              </a:spcBef>
              <a:defRPr sz="1400"/>
            </a:pPr>
            <a:r>
              <a:t>  • Additionner pour avoir masse totale</a:t>
            </a:r>
          </a:p>
          <a:p>
            <a:pPr lvl="1">
              <a:spcBef>
                <a:spcPts val="400"/>
              </a:spcBef>
              <a:defRPr sz="1400"/>
            </a:pPr>
            <a:r>
              <a:t>  • Vérifier &lt; MTOW (Maximum Takeoff Weight)</a:t>
            </a:r>
          </a:p>
          <a:p>
            <a:pPr lvl="1">
              <a:spcBef>
                <a:spcPts val="400"/>
              </a:spcBef>
              <a:defRPr sz="1400"/>
            </a:pPr>
            <a:r>
              <a:t>  • Calculer centrage (moments) :</a:t>
            </a:r>
          </a:p>
          <a:p>
            <a:pPr lvl="1">
              <a:spcBef>
                <a:spcPts val="400"/>
              </a:spcBef>
              <a:defRPr sz="1400"/>
            </a:pPr>
            <a:r>
              <a:t>    - Moment = Masse × Bras de levier</a:t>
            </a:r>
          </a:p>
          <a:p>
            <a:pPr lvl="1">
              <a:spcBef>
                <a:spcPts val="400"/>
              </a:spcBef>
              <a:defRPr sz="1400"/>
            </a:pPr>
            <a:r>
              <a:t>    - Chercher les bras de levier dans le POH (tableau complexe)</a:t>
            </a:r>
          </a:p>
          <a:p>
            <a:pPr lvl="1">
              <a:spcBef>
                <a:spcPts val="400"/>
              </a:spcBef>
              <a:defRPr sz="1400"/>
            </a:pPr>
            <a:r>
              <a:t>    - Calculer moment total et CG position</a:t>
            </a:r>
          </a:p>
          <a:p>
            <a:pPr lvl="1">
              <a:spcBef>
                <a:spcPts val="400"/>
              </a:spcBef>
              <a:defRPr sz="1400"/>
            </a:pPr>
            <a:r>
              <a:t>  • Reporter sur l'enveloppe de centrage POH</a:t>
            </a:r>
          </a:p>
          <a:p>
            <a:pPr lvl="1">
              <a:spcBef>
                <a:spcPts val="400"/>
              </a:spcBef>
              <a:defRPr sz="1400" b="1">
                <a:solidFill>
                  <a:srgbClr val="EF4444"/>
                </a:solidFill>
              </a:defRPr>
            </a:pPr>
            <a:r>
              <a:t>  • ❌ Refaire si hors enveloppe (déplacer bagages, enlever carburant...)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📋 Remplir le plan de vol (10-15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Remplir formulaire OLIVIA (plan de vol DGAC)</a:t>
            </a:r>
          </a:p>
          <a:p>
            <a:pPr lvl="1">
              <a:spcBef>
                <a:spcPts val="400"/>
              </a:spcBef>
              <a:defRPr sz="1400"/>
            </a:pPr>
            <a:r>
              <a:t>  • Saisir manuellement : aérodromes, route, heures, autonomie...</a:t>
            </a:r>
          </a:p>
          <a:p>
            <a:pPr lvl="1">
              <a:spcBef>
                <a:spcPts val="400"/>
              </a:spcBef>
              <a:defRPr sz="1400"/>
            </a:pPr>
            <a:r>
              <a:t>  • Déposer en ligne (ou par téléphone si site en panne...)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✅ Check final liste documents bord (5 min)</a:t>
            </a:r>
          </a:p>
          <a:p>
            <a:pPr lvl="1">
              <a:spcBef>
                <a:spcPts val="400"/>
              </a:spcBef>
              <a:defRPr sz="1400"/>
            </a:pPr>
            <a:r>
              <a:t>  • Vérifier tous les documents imprimés/téléchargés</a:t>
            </a:r>
          </a:p>
          <a:p>
            <a:pPr lvl="1">
              <a:spcBef>
                <a:spcPts val="400"/>
              </a:spcBef>
              <a:defRPr sz="1400"/>
            </a:pPr>
            <a:r>
              <a:t>  • S'assurer de ne rien avoir oublié (facile d'oublier un NOTAM...)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Étape 5/5 : Le Cauchemar des Changements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⚠️ CHAQUE modification = Recommencer partiellement ou totalement</a:t>
            </a:r>
          </a:p>
          <a:p>
            <a:pPr>
              <a:spcBef>
                <a:spcPts val="800"/>
              </a:spcBef>
              <a:defRPr sz="1600" b="1">
                <a:solidFill>
                  <a:srgbClr val="EF4444"/>
                </a:solidFill>
              </a:defRPr>
            </a:pPr>
            <a:r>
              <a:t>❌ Changement météo ? TOUT RECOMMENCER !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Nouveau METAR → Nouvelles températures</a:t>
            </a:r>
          </a:p>
          <a:p>
            <a:pPr lvl="1">
              <a:spcBef>
                <a:spcPts val="400"/>
              </a:spcBef>
              <a:defRPr sz="1400"/>
            </a:pPr>
            <a:r>
              <a:t>  • Recalculer PA, DA, performances décollage/atterrissage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Nouveaux vents → Recalculer vitesses sol, temps, carburant</a:t>
            </a:r>
          </a:p>
          <a:p>
            <a:pPr lvl="1">
              <a:spcBef>
                <a:spcPts val="400"/>
              </a:spcBef>
              <a:defRPr sz="1400"/>
            </a:pPr>
            <a:r>
              <a:t>  • Conditions détériorées → Chercher un aérodrome de dégagement</a:t>
            </a:r>
          </a:p>
          <a:p>
            <a:pPr lvl="1">
              <a:spcBef>
                <a:spcPts val="400"/>
              </a:spcBef>
              <a:defRPr sz="1400"/>
            </a:pPr>
            <a:r>
              <a:t>  • Refaire les calculs pour le dégagement (METAR, VAC, perfs...)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 b="1">
                <a:solidFill>
                  <a:srgbClr val="EF4444"/>
                </a:solidFill>
              </a:defRPr>
            </a:pPr>
            <a:r>
              <a:t>❌ Passager supplémentaire ? TOUT RECOMMENCER !</a:t>
            </a:r>
          </a:p>
          <a:p>
            <a:pPr lvl="1">
              <a:spcBef>
                <a:spcPts val="400"/>
              </a:spcBef>
              <a:defRPr sz="1400"/>
            </a:pPr>
            <a:r>
              <a:t>  • Recalculer masse et centrage complet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Nouvelles performances décollage (masse augmentée)</a:t>
            </a:r>
          </a:p>
          <a:p>
            <a:pPr lvl="1">
              <a:spcBef>
                <a:spcPts val="400"/>
              </a:spcBef>
              <a:defRPr sz="1400"/>
            </a:pPr>
            <a:r>
              <a:t>  • Recalculer consommation carburant (avion plus lourd)</a:t>
            </a:r>
          </a:p>
          <a:p>
            <a:pPr lvl="1">
              <a:spcBef>
                <a:spcPts val="400"/>
              </a:spcBef>
              <a:defRPr sz="1400"/>
            </a:pPr>
            <a:r>
              <a:t>  • Potentiellement : retirer des bagages ou du carburant</a:t>
            </a:r>
          </a:p>
          <a:p>
            <a:pPr lvl="1">
              <a:spcBef>
                <a:spcPts val="400"/>
              </a:spcBef>
              <a:defRPr sz="1400"/>
            </a:pPr>
            <a:r>
              <a:t>  • Si hors enveloppe centrage → Reorganiser chargement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 b="1">
                <a:solidFill>
                  <a:srgbClr val="EF4444"/>
                </a:solidFill>
              </a:defRPr>
            </a:pPr>
            <a:r>
              <a:t>❌ Changement de piste ? Recalculer !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Nouvelle orientation piste → Recalculer composantes vent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Nouvelle longueur piste → Revérifier performances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 b="1">
                <a:solidFill>
                  <a:srgbClr val="EF4444"/>
                </a:solidFill>
              </a:defRPr>
            </a:pPr>
            <a:r>
              <a:t>❌ Retard au départ ? Mise à jour !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Nouveaux horaires → Nouveau TAF</a:t>
            </a:r>
          </a:p>
          <a:p>
            <a:pPr lvl="1">
              <a:spcBef>
                <a:spcPts val="400"/>
              </a:spcBef>
              <a:defRPr sz="1400"/>
            </a:pPr>
            <a:r>
              <a:t>  • Nouveau METAR → Températures/vents différents</a:t>
            </a:r>
          </a:p>
          <a:p>
            <a:pPr lvl="1">
              <a:spcBef>
                <a:spcPts val="400"/>
              </a:spcBef>
              <a:defRPr sz="1400"/>
            </a:pPr>
            <a:r>
              <a:t>  • Plan de vol à modifier (OLIVIA)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📊 Le Bilan Catastrophique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🚨 La réalité de CHAQUE préparation de vol sans aide numérique</a:t>
            </a:r>
          </a:p>
          <a:p>
            <a:pPr>
              <a:spcBef>
                <a:spcPts val="800"/>
              </a:spcBef>
              <a:defRPr sz="1600"/>
            </a:pPr>
            <a:r>
              <a:t>⏱️ TEMPS TOTAL : 2h30 à 3h30 de préparation</a:t>
            </a:r>
          </a:p>
          <a:p>
            <a:pPr lvl="1">
              <a:spcBef>
                <a:spcPts val="400"/>
              </a:spcBef>
              <a:defRPr sz="1400"/>
            </a:pPr>
            <a:r>
              <a:t>  • Pour UN SEUL vol de navigation</a:t>
            </a:r>
          </a:p>
          <a:p>
            <a:pPr lvl="1">
              <a:spcBef>
                <a:spcPts val="400"/>
              </a:spcBef>
              <a:defRPr sz="1400"/>
            </a:pPr>
            <a:r>
              <a:t>  • Sans compter les erreurs et oublis...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🧠 CHARGE MENTALE : Maximale</a:t>
            </a:r>
          </a:p>
          <a:p>
            <a:pPr lvl="1">
              <a:spcBef>
                <a:spcPts val="400"/>
              </a:spcBef>
              <a:defRPr sz="1400"/>
            </a:pPr>
            <a:r>
              <a:t>  • 15-20 sites web différents à consulter</a:t>
            </a:r>
          </a:p>
          <a:p>
            <a:pPr lvl="1">
              <a:spcBef>
                <a:spcPts val="400"/>
              </a:spcBef>
              <a:defRPr sz="1400"/>
            </a:pPr>
            <a:r>
              <a:t>  • 50+ calculs manuels (risques d'erreur élevés)</a:t>
            </a:r>
          </a:p>
          <a:p>
            <a:pPr lvl="1">
              <a:spcBef>
                <a:spcPts val="400"/>
              </a:spcBef>
              <a:defRPr sz="1400"/>
            </a:pPr>
            <a:r>
              <a:t>  • Documents papier éparpillés partout</a:t>
            </a:r>
          </a:p>
          <a:p>
            <a:pPr lvl="1">
              <a:spcBef>
                <a:spcPts val="400"/>
              </a:spcBef>
              <a:defRPr sz="1400"/>
            </a:pPr>
            <a:r>
              <a:t>  • Impossible de tout garder en tête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 b="1">
                <a:solidFill>
                  <a:srgbClr val="EF4444"/>
                </a:solidFill>
              </a:defRPr>
            </a:pPr>
            <a:r>
              <a:t>⚠️ RISQUES D'ERREURS : Très élevés</a:t>
            </a:r>
          </a:p>
          <a:p>
            <a:pPr lvl="1">
              <a:spcBef>
                <a:spcPts val="400"/>
              </a:spcBef>
              <a:defRPr sz="1400"/>
            </a:pPr>
            <a:r>
              <a:t>  • Oubli d'un NOTAM critique (piste fermée)</a:t>
            </a:r>
          </a:p>
          <a:p>
            <a:pPr lvl="1">
              <a:spcBef>
                <a:spcPts val="400"/>
              </a:spcBef>
              <a:defRPr sz="1400"/>
            </a:pPr>
            <a:r>
              <a:t>  • Erreur de calcul dans les performances (dangereux !)</a:t>
            </a:r>
          </a:p>
          <a:p>
            <a:pPr lvl="1">
              <a:spcBef>
                <a:spcPts val="400"/>
              </a:spcBef>
              <a:defRPr sz="1400"/>
            </a:pPr>
            <a:r>
              <a:t>  • Mauvaise lecture d'un abaque (±15% d'erreur)</a:t>
            </a:r>
          </a:p>
          <a:p>
            <a:pPr lvl="1">
              <a:spcBef>
                <a:spcPts val="400"/>
              </a:spcBef>
              <a:defRPr sz="1400"/>
            </a:pPr>
            <a:r>
              <a:t>  • Confusion entre unités (ft/m, kt/km/h, L/gal...)</a:t>
            </a:r>
          </a:p>
          <a:p>
            <a:pPr lvl="1">
              <a:spcBef>
                <a:spcPts val="400"/>
              </a:spcBef>
              <a:defRPr sz="1400"/>
            </a:pPr>
            <a:r>
              <a:t>  • Document périmé non détecté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😤 FRUSTRATION : Maximum</a:t>
            </a:r>
          </a:p>
          <a:p>
            <a:pPr lvl="1">
              <a:spcBef>
                <a:spcPts val="400"/>
              </a:spcBef>
              <a:defRPr sz="1400"/>
            </a:pPr>
            <a:r>
              <a:t>  • Répétitif, chronophage, source de stress</a:t>
            </a:r>
          </a:p>
          <a:p>
            <a:pPr lvl="1">
              <a:spcBef>
                <a:spcPts val="400"/>
              </a:spcBef>
              <a:defRPr sz="1400"/>
            </a:pPr>
            <a:r>
              <a:t>  • Décourage les vols spontanés</a:t>
            </a:r>
          </a:p>
          <a:p>
            <a:pPr lvl="1">
              <a:spcBef>
                <a:spcPts val="400"/>
              </a:spcBef>
              <a:defRPr sz="1400"/>
            </a:pPr>
            <a:r>
              <a:t>  • Vol de 1h30 = 3h de préparation (ratio 2:1 !)</a:t>
            </a:r>
          </a:p>
          <a:p>
            <a:pPr>
              <a:spcBef>
                <a:spcPts val="800"/>
              </a:spcBef>
              <a:defRPr sz="1600"/>
            </a:pPr>
          </a:p>
          <a:p>
            <a:pPr>
              <a:spcBef>
                <a:spcPts val="800"/>
              </a:spcBef>
              <a:defRPr sz="1600"/>
            </a:pPr>
            <a:r>
              <a:t>💸 COÛT OPPORTUNITÉ : Énorme</a:t>
            </a:r>
          </a:p>
          <a:p>
            <a:pPr lvl="1">
              <a:spcBef>
                <a:spcPts val="400"/>
              </a:spcBef>
              <a:defRPr sz="1400"/>
            </a:pPr>
            <a:r>
              <a:t>  • 3 heures = Temps qu'on pourrait passer À VOLER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ET SI...</a:t>
            </a:r>
          </a:p>
          <a:p>
            <a:pPr algn="ctr">
              <a:spcBef>
                <a:spcPts val="2000"/>
              </a:spcBef>
              <a:defRPr sz="3200">
                <a:solidFill>
                  <a:srgbClr val="FFFFFF"/>
                </a:solidFill>
              </a:defRPr>
            </a:pPr>
            <a:r>
              <a:t>Tout cela pouvait prendre 15 minutes 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B98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Avec ALFlight</a:t>
            </a:r>
          </a:p>
          <a:p>
            <a:pPr algn="ctr">
              <a:spcBef>
                <a:spcPts val="2000"/>
              </a:spcBef>
              <a:defRPr sz="3200">
                <a:solidFill>
                  <a:srgbClr val="FFFFFF"/>
                </a:solidFill>
              </a:defRPr>
            </a:pPr>
            <a:r>
              <a:t>La préparation de vol réinventée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Comment Fonctionne ALFlight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🎯 2 étapes simples pour une efficacité maximale</a:t>
            </a:r>
          </a:p>
          <a:p>
            <a:pPr>
              <a:spcBef>
                <a:spcPts val="1000"/>
              </a:spcBef>
              <a:defRPr sz="1800"/>
            </a:pPr>
            <a:r>
              <a:t>📱 ALFlight révolutionne la préparation de vol en 2 étapes :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1️⃣ PREMIÈRE UTILISATION : Configuration initiale</a:t>
            </a:r>
          </a:p>
          <a:p>
            <a:pPr lvl="1">
              <a:spcBef>
                <a:spcPts val="600"/>
              </a:spcBef>
              <a:defRPr sz="1500"/>
            </a:pPr>
            <a:r>
              <a:t>⏱️ Durée : 10-15 minutes (UNE SEULE FOIS)</a:t>
            </a:r>
          </a:p>
          <a:p>
            <a:pPr lvl="1">
              <a:spcBef>
                <a:spcPts val="600"/>
              </a:spcBef>
              <a:defRPr sz="1500"/>
            </a:pPr>
            <a:r>
              <a:t>• Créer votre profil pilote (licences, qualifications)</a:t>
            </a:r>
          </a:p>
          <a:p>
            <a:pPr lvl="1">
              <a:spcBef>
                <a:spcPts val="600"/>
              </a:spcBef>
              <a:defRPr sz="1500"/>
            </a:pPr>
            <a:r>
              <a:t>• Télécharger vos avions favoris depuis la bibliothèque</a:t>
            </a:r>
          </a:p>
          <a:p>
            <a:pPr lvl="1">
              <a:spcBef>
                <a:spcPts val="600"/>
              </a:spcBef>
              <a:defRPr sz="1500"/>
            </a:pPr>
            <a:r>
              <a:t>• Configurer vos préférences (unités, aérodromes habituels)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2️⃣ CHAQUE VOL SUIVANT : Préparation instantanée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3B82F6"/>
                </a:solidFill>
              </a:defRPr>
            </a:pPr>
            <a:r>
              <a:t>⚡ Durée : 3 MINUTES CHRONO</a:t>
            </a:r>
          </a:p>
          <a:p>
            <a:pPr lvl="1">
              <a:spcBef>
                <a:spcPts val="600"/>
              </a:spcBef>
              <a:defRPr sz="1500"/>
            </a:pPr>
            <a:r>
              <a:t>• Saisir départ/arrivée → Tout le reste est AUTOMATIQUE</a:t>
            </a:r>
          </a:p>
          <a:p>
            <a:pPr lvl="1">
              <a:spcBef>
                <a:spcPts val="600"/>
              </a:spcBef>
              <a:defRPr sz="1500"/>
            </a:pPr>
            <a:r>
              <a:t>• Validation des calculs → Prêt à décoller !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💡 Comparaison finale :</a:t>
            </a:r>
          </a:p>
          <a:p>
            <a:pPr lvl="1">
              <a:spcBef>
                <a:spcPts val="600"/>
              </a:spcBef>
              <a:defRPr sz="1500"/>
            </a:pPr>
            <a:r>
              <a:t>• Méthode manuelle : 3 heures À CHAQUE VOL</a:t>
            </a:r>
          </a:p>
          <a:p>
            <a:pPr lvl="1">
              <a:spcBef>
                <a:spcPts val="600"/>
              </a:spcBef>
              <a:defRPr sz="1500"/>
            </a:pPr>
            <a:r>
              <a:t>• ALFlight : 15 min la 1ère fois, puis 3 min par vol</a:t>
            </a:r>
          </a:p>
          <a:p>
            <a:pPr lvl="1">
              <a:spcBef>
                <a:spcPts val="600"/>
              </a:spcBef>
              <a:defRPr sz="1500"/>
            </a:pPr>
            <a:r>
              <a:t>➜ Gain de temps : x60 plus rapide après configuration 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1️⃣ Première Utilisation : Configuration Initiale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Durée totale : 10-15 minutes (une seule fois dans votre vie de pilote !)</a:t>
            </a:r>
          </a:p>
          <a:p>
            <a:pPr>
              <a:spcBef>
                <a:spcPts val="1000"/>
              </a:spcBef>
              <a:defRPr sz="1800"/>
            </a:pPr>
            <a:r>
              <a:t>👤 ÉTAPE 1 : Profil Pilote (3-5 min)</a:t>
            </a:r>
          </a:p>
          <a:p>
            <a:pPr lvl="1">
              <a:spcBef>
                <a:spcPts val="600"/>
              </a:spcBef>
              <a:defRPr sz="1500"/>
            </a:pPr>
            <a:r>
              <a:t>• Nom, prénom, date de naissance</a:t>
            </a:r>
          </a:p>
          <a:p>
            <a:pPr lvl="1">
              <a:spcBef>
                <a:spcPts val="600"/>
              </a:spcBef>
              <a:defRPr sz="1500"/>
            </a:pPr>
            <a:r>
              <a:t>• Licence (LAPL, PPL, CPL...) + numéro</a:t>
            </a:r>
          </a:p>
          <a:p>
            <a:pPr lvl="1">
              <a:spcBef>
                <a:spcPts val="600"/>
              </a:spcBef>
              <a:defRPr sz="1500"/>
            </a:pPr>
            <a:r>
              <a:t>• Qualifications (SEP, MEP, Night, IR...)</a:t>
            </a:r>
          </a:p>
          <a:p>
            <a:pPr lvl="1">
              <a:spcBef>
                <a:spcPts val="600"/>
              </a:spcBef>
              <a:defRPr sz="1500"/>
            </a:pPr>
            <a:r>
              <a:t>• Certificat médical (classe + date expiration)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Alertes automatiques pour renouvellements !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✈️ ÉTAPE 2 : Télécharger Avions (2-3 min)</a:t>
            </a:r>
          </a:p>
          <a:p>
            <a:pPr lvl="1">
              <a:spcBef>
                <a:spcPts val="600"/>
              </a:spcBef>
              <a:defRPr sz="1500"/>
            </a:pPr>
            <a:r>
              <a:t>• Accéder bibliothèque intégrée (50+ modèles)</a:t>
            </a:r>
          </a:p>
          <a:p>
            <a:pPr lvl="1">
              <a:spcBef>
                <a:spcPts val="600"/>
              </a:spcBef>
              <a:defRPr sz="1500"/>
            </a:pPr>
            <a:r>
              <a:t>• Rechercher votre avion (DA40 NG, C172, PA28...)</a:t>
            </a:r>
          </a:p>
          <a:p>
            <a:pPr lvl="1">
              <a:spcBef>
                <a:spcPts val="600"/>
              </a:spcBef>
              <a:defRPr sz="1500"/>
            </a:pPr>
            <a:r>
              <a:t>• Télécharger : performances + abaques + limites</a:t>
            </a:r>
          </a:p>
          <a:p>
            <a:pPr lvl="1">
              <a:spcBef>
                <a:spcPts val="600"/>
              </a:spcBef>
              <a:defRPr sz="1500"/>
            </a:pPr>
            <a:r>
              <a:t>• Ajouter immatriculation (F-HSTR, F-GXYZ...)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Avion prêt avec TOUTES ses données techniques !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⚙️ ÉTAPE 3 : Préférences Unités (2-3 min)</a:t>
            </a:r>
          </a:p>
          <a:p>
            <a:pPr lvl="1">
              <a:spcBef>
                <a:spcPts val="600"/>
              </a:spcBef>
              <a:defRPr sz="1500"/>
            </a:pPr>
            <a:r>
              <a:t>• Choisir preset rapide : EASA (Europe) ou FAA (USA)</a:t>
            </a:r>
          </a:p>
          <a:p>
            <a:pPr lvl="1">
              <a:spcBef>
                <a:spcPts val="600"/>
              </a:spcBef>
              <a:defRPr sz="1500"/>
            </a:pPr>
            <a:r>
              <a:t>• Ou personnaliser : distances (nm/km), vitesses (kt/km/h)...</a:t>
            </a:r>
          </a:p>
          <a:p>
            <a:pPr lvl="1">
              <a:spcBef>
                <a:spcPts val="600"/>
              </a:spcBef>
              <a:defRPr sz="1500"/>
            </a:pPr>
            <a:r>
              <a:t>• Configurer aérodromes favoris (base habituelle)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Application adaptée à VOS habitudes !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📲 ÉTAPE 4 : Synchronisation (2-3 min)</a:t>
            </a:r>
          </a:p>
          <a:p>
            <a:pPr lvl="1">
              <a:spcBef>
                <a:spcPts val="600"/>
              </a:spcBef>
              <a:defRPr sz="1500"/>
            </a:pPr>
            <a:r>
              <a:t>• Créer compte Supabase (email + mot de passe)</a:t>
            </a:r>
          </a:p>
          <a:p>
            <a:pPr lvl="1">
              <a:spcBef>
                <a:spcPts val="600"/>
              </a:spcBef>
              <a:defRPr sz="1500"/>
            </a:pPr>
            <a:r>
              <a:t>• Sync automatique multi-appareils (phone + tablette + PC)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Vos données partout, tout le temps 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B15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Et Maintenant...</a:t>
            </a:r>
          </a:p>
          <a:p>
            <a:pPr algn="ctr">
              <a:spcBef>
                <a:spcPts val="2000"/>
              </a:spcBef>
              <a:defRPr sz="3200">
                <a:solidFill>
                  <a:srgbClr val="FFFFFF"/>
                </a:solidFill>
              </a:defRPr>
            </a:pPr>
            <a:r>
              <a:t>Préparez CHAQUE vol en 3 minutes ⚡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2️⃣ Chaque Vol : Préparation en 3 Minutes ⚡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⏱️ Chronomètre : De l'ouverture de l'app au décollage en 180 secondes</a:t>
            </a:r>
          </a:p>
          <a:p>
            <a:pPr>
              <a:spcBef>
                <a:spcPts val="1000"/>
              </a:spcBef>
              <a:defRPr sz="1800"/>
            </a:pPr>
            <a:r>
              <a:t>🚀 MINUTE 1 : Saisie du Vol (30 secondes)</a:t>
            </a:r>
          </a:p>
          <a:p>
            <a:pPr lvl="1">
              <a:spcBef>
                <a:spcPts val="600"/>
              </a:spcBef>
              <a:defRPr sz="1500"/>
            </a:pPr>
            <a:r>
              <a:t>• Ouvrir ALFlight → Onglet 'Nouveau Vol'</a:t>
            </a:r>
          </a:p>
          <a:p>
            <a:pPr lvl="1">
              <a:spcBef>
                <a:spcPts val="600"/>
              </a:spcBef>
              <a:defRPr sz="1500"/>
            </a:pPr>
            <a:r>
              <a:t>• Saisir départ : LFST (Strasbourg)</a:t>
            </a:r>
          </a:p>
          <a:p>
            <a:pPr lvl="1">
              <a:spcBef>
                <a:spcPts val="600"/>
              </a:spcBef>
              <a:defRPr sz="1500"/>
            </a:pPr>
            <a:r>
              <a:t>• Saisir arrivée : LFPO (Paris-Orly)</a:t>
            </a:r>
          </a:p>
          <a:p>
            <a:pPr lvl="1">
              <a:spcBef>
                <a:spcPts val="600"/>
              </a:spcBef>
              <a:defRPr sz="1500"/>
            </a:pPr>
            <a:r>
              <a:t>• Sélectionner avion : F-HSTR (DA40 NG)</a:t>
            </a:r>
          </a:p>
          <a:p>
            <a:pPr lvl="1">
              <a:spcBef>
                <a:spcPts val="600"/>
              </a:spcBef>
              <a:defRPr sz="1500"/>
            </a:pPr>
            <a:r>
              <a:t>• Date/heure vol : Aujourd'hui 14h00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Clic sur 'Préparer Vol' → MAGIE !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 b="1">
                <a:solidFill>
                  <a:srgbClr val="3B82F6"/>
                </a:solidFill>
              </a:defRPr>
            </a:pPr>
            <a:r>
              <a:t>⚡ MINUTE 2 : ALFlight Fait TOUT Automatiquement (2 min)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Récupération METAR/TAF temps réel (LFST + LFPO)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Téléchargement NOTAM actifs (départ + arrivée + route)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Téléchargement VAC à jour (PDF automatique)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route optimale + waypoints GPS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vents en altitude (FL50, FL75, FL100...)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temps de vol et carburant nécessaire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performances décollage (PA, DA, distance, marges)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performances atterrissage (avec dégagement)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Calcul Weight &amp; Balance automatique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Génération plan de vol OLIVIA pré-rempli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Analyse espaces aériens traversés (TMA, CTR...)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Export PDF complet prêt à imprimer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👀 MINUTE 3 : Validation Pilote (30 secondes)</a:t>
            </a:r>
          </a:p>
          <a:p>
            <a:pPr lvl="1">
              <a:spcBef>
                <a:spcPts val="600"/>
              </a:spcBef>
              <a:defRPr sz="1500"/>
            </a:pPr>
            <a:r>
              <a:t>• Vérifier résultats affichés (distances, temps, fuel)</a:t>
            </a:r>
          </a:p>
          <a:p>
            <a:pPr lvl="1">
              <a:spcBef>
                <a:spcPts val="600"/>
              </a:spcBef>
              <a:defRPr sz="1500"/>
            </a:pPr>
            <a:r>
              <a:t>• Lire NOTAM critiques surlignés en rouge</a:t>
            </a:r>
          </a:p>
          <a:p>
            <a:pPr lvl="1">
              <a:spcBef>
                <a:spcPts val="600"/>
              </a:spcBef>
              <a:defRPr sz="1500"/>
            </a:pPr>
            <a:r>
              <a:t>• Valider météo VMC/IMC acceptable</a:t>
            </a:r>
          </a:p>
          <a:p>
            <a:pPr lvl="1">
              <a:spcBef>
                <a:spcPts val="600"/>
              </a:spcBef>
              <a:defRPr sz="1500"/>
            </a:pPr>
            <a:r>
              <a:t>• Confirmer performances SAFE (verdicts verts)</a:t>
            </a:r>
          </a:p>
          <a:p>
            <a:pPr lvl="1">
              <a:spcBef>
                <a:spcPts val="600"/>
              </a:spcBef>
              <a:defRPr sz="1500" b="1">
                <a:solidFill>
                  <a:srgbClr val="10B981"/>
                </a:solidFill>
              </a:defRPr>
            </a:pPr>
            <a:r>
              <a:t>✅ C'EST PRÊT ! Direction l'avion 🛫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Avant / Après : Le Changement Radical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spcAft>
                <a:spcPts val="1500"/>
              </a:spcAft>
              <a:defRPr sz="2400" b="1">
                <a:solidFill>
                  <a:srgbClr val="3B82F6"/>
                </a:solidFill>
              </a:defRPr>
            </a:pPr>
            <a:r>
              <a:t>❌ AVANT (Sans ALFlight)</a:t>
            </a:r>
          </a:p>
          <a:p>
            <a:pPr>
              <a:spcBef>
                <a:spcPts val="600"/>
              </a:spcBef>
              <a:defRPr sz="1400"/>
            </a:pPr>
            <a:r>
              <a:t>⏱️ TEMPS : 3 heures par vol</a:t>
            </a:r>
          </a:p>
          <a:p>
            <a:pPr>
              <a:spcBef>
                <a:spcPts val="600"/>
              </a:spcBef>
              <a:defRPr sz="1400"/>
            </a:pPr>
            <a:r>
              <a:t>📚 15-20 sites web à consulter</a:t>
            </a:r>
          </a:p>
          <a:p>
            <a:pPr>
              <a:spcBef>
                <a:spcPts val="600"/>
              </a:spcBef>
              <a:defRPr sz="1400"/>
            </a:pPr>
            <a:r>
              <a:t>🧮 50+ calculs manuels</a:t>
            </a:r>
          </a:p>
          <a:p>
            <a:pPr>
              <a:spcBef>
                <a:spcPts val="600"/>
              </a:spcBef>
              <a:defRPr sz="1400"/>
            </a:pPr>
            <a:r>
              <a:t>📄 Documents papier éparpillés</a:t>
            </a:r>
          </a:p>
          <a:p>
            <a:pPr>
              <a:spcBef>
                <a:spcPts val="600"/>
              </a:spcBef>
              <a:defRPr sz="1400"/>
            </a:pPr>
            <a:r>
              <a:t>❌ Risques d'erreurs élevés</a:t>
            </a:r>
          </a:p>
          <a:p>
            <a:pPr>
              <a:spcBef>
                <a:spcPts val="600"/>
              </a:spcBef>
              <a:defRPr sz="1400"/>
            </a:pPr>
            <a:r>
              <a:t>😤 Frustration et stress</a:t>
            </a:r>
          </a:p>
          <a:p>
            <a:pPr>
              <a:spcBef>
                <a:spcPts val="600"/>
              </a:spcBef>
              <a:defRPr sz="1400"/>
            </a:pPr>
            <a:r>
              <a:t>🔄 Tout recommencer si changement</a:t>
            </a:r>
          </a:p>
          <a:p>
            <a:pPr>
              <a:spcBef>
                <a:spcPts val="600"/>
              </a:spcBef>
              <a:defRPr sz="1400"/>
            </a:pPr>
            <a:r>
              <a:t>💸 Ratio 2:1 (prépa:vol)</a:t>
            </a:r>
          </a:p>
          <a:p>
            <a:pPr>
              <a:spcBef>
                <a:spcPts val="600"/>
              </a:spcBef>
              <a:defRPr sz="1400"/>
            </a:pPr>
          </a:p>
          <a:p>
            <a:pPr>
              <a:spcBef>
                <a:spcPts val="600"/>
              </a:spcBef>
              <a:defRPr sz="1400"/>
            </a:pPr>
            <a:r>
              <a:t>👎 Décourage les vols spontanés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>
              <a:spcAft>
                <a:spcPts val="1500"/>
              </a:spcAft>
              <a:defRPr sz="2400" b="1">
                <a:solidFill>
                  <a:srgbClr val="10B981"/>
                </a:solidFill>
              </a:defRPr>
            </a:pPr>
            <a:r>
              <a:t>✅ APRÈS (Avec ALFlight)</a:t>
            </a:r>
          </a:p>
          <a:p>
            <a:pPr>
              <a:spcBef>
                <a:spcPts val="600"/>
              </a:spcBef>
              <a:defRPr sz="1400"/>
            </a:pPr>
            <a:r>
              <a:t>⚡ TEMPS : 3 minutes par vol</a:t>
            </a:r>
          </a:p>
          <a:p>
            <a:pPr>
              <a:spcBef>
                <a:spcPts val="600"/>
              </a:spcBef>
              <a:defRPr sz="1400"/>
            </a:pPr>
            <a:r>
              <a:t>📱 1 seule application tout-en-un</a:t>
            </a:r>
          </a:p>
          <a:p>
            <a:pPr>
              <a:spcBef>
                <a:spcPts val="600"/>
              </a:spcBef>
              <a:defRPr sz="1400"/>
            </a:pPr>
            <a:r>
              <a:t>🤖 100% automatisé (0 calcul manuel)</a:t>
            </a:r>
          </a:p>
          <a:p>
            <a:pPr>
              <a:spcBef>
                <a:spcPts val="600"/>
              </a:spcBef>
              <a:defRPr sz="1400"/>
            </a:pPr>
            <a:r>
              <a:t>📲 Tout centralisé dans l'app</a:t>
            </a:r>
          </a:p>
          <a:p>
            <a:pPr>
              <a:spcBef>
                <a:spcPts val="600"/>
              </a:spcBef>
              <a:defRPr sz="1400"/>
            </a:pPr>
            <a:r>
              <a:t>✅ Calculs vérifiés et précis</a:t>
            </a:r>
          </a:p>
          <a:p>
            <a:pPr>
              <a:spcBef>
                <a:spcPts val="600"/>
              </a:spcBef>
              <a:defRPr sz="1400"/>
            </a:pPr>
            <a:r>
              <a:t>😌 Sérénité et confiance</a:t>
            </a:r>
          </a:p>
          <a:p>
            <a:pPr>
              <a:spcBef>
                <a:spcPts val="600"/>
              </a:spcBef>
              <a:defRPr sz="1400"/>
            </a:pPr>
            <a:r>
              <a:t>🔄 Mise à jour instantanée (1 clic)</a:t>
            </a:r>
          </a:p>
          <a:p>
            <a:pPr>
              <a:spcBef>
                <a:spcPts val="600"/>
              </a:spcBef>
              <a:defRPr sz="1400"/>
            </a:pPr>
            <a:r>
              <a:t>💸 Ratio 1:30 (prépa:vol)</a:t>
            </a:r>
          </a:p>
          <a:p>
            <a:pPr>
              <a:spcBef>
                <a:spcPts val="600"/>
              </a:spcBef>
              <a:defRPr sz="1400"/>
            </a:pPr>
          </a:p>
          <a:p>
            <a:pPr>
              <a:spcBef>
                <a:spcPts val="600"/>
              </a:spcBef>
              <a:defRPr sz="1400"/>
            </a:pPr>
            <a:r>
              <a:t>👍 Encourage la pratique régulière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 b="1">
                <a:solidFill>
                  <a:srgbClr val="93163C"/>
                </a:solidFill>
              </a:defRPr>
            </a:pPr>
            <a:r>
              <a:t>🎯 Le Véritable Impact d'ALFlight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2000"/>
              </a:spcAft>
              <a:defRPr sz="1800" i="1">
                <a:solidFill>
                  <a:srgbClr val="6B0F2B"/>
                </a:solidFill>
              </a:defRPr>
            </a:pPr>
            <a:r>
              <a:t>Au-delà du temps : Confiance, Liberté, Progression</a:t>
            </a:r>
          </a:p>
          <a:p>
            <a:pPr>
              <a:spcBef>
                <a:spcPts val="1000"/>
              </a:spcBef>
              <a:defRPr sz="1800"/>
            </a:pPr>
            <a:r>
              <a:t>💡 Le VRAI gain d'ALFlight n'est pas que le temps...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🧠 CHARGE MENTALE RÉDUITE DE 95%</a:t>
            </a:r>
          </a:p>
          <a:p>
            <a:pPr lvl="1">
              <a:spcBef>
                <a:spcPts val="600"/>
              </a:spcBef>
              <a:defRPr sz="1500"/>
            </a:pPr>
            <a:r>
              <a:t>• Fini le stress de l'oubli d'un NOTAM critique</a:t>
            </a:r>
          </a:p>
          <a:p>
            <a:pPr lvl="1">
              <a:spcBef>
                <a:spcPts val="600"/>
              </a:spcBef>
              <a:defRPr sz="1500"/>
            </a:pPr>
            <a:r>
              <a:t>• Fini la peur d'une erreur de calcul dans les performances</a:t>
            </a:r>
          </a:p>
          <a:p>
            <a:pPr lvl="1">
              <a:spcBef>
                <a:spcPts val="600"/>
              </a:spcBef>
              <a:defRPr sz="1500"/>
            </a:pPr>
            <a:r>
              <a:t>• Fini les doutes sur la validité des documents</a:t>
            </a:r>
          </a:p>
          <a:p>
            <a:pPr lvl="1">
              <a:spcBef>
                <a:spcPts val="600"/>
              </a:spcBef>
              <a:defRPr sz="1500"/>
            </a:pPr>
            <a:r>
              <a:t>➜ CONFIANCE TOTALE dans votre préparation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🛫 PLUS DE VOLS, PLUS SOUVENT</a:t>
            </a:r>
          </a:p>
          <a:p>
            <a:pPr lvl="1">
              <a:spcBef>
                <a:spcPts val="600"/>
              </a:spcBef>
              <a:defRPr sz="1500"/>
            </a:pPr>
            <a:r>
              <a:t>• Vol spontané le weekend ? OUI en 3 minutes !</a:t>
            </a:r>
          </a:p>
          <a:p>
            <a:pPr lvl="1">
              <a:spcBef>
                <a:spcPts val="600"/>
              </a:spcBef>
              <a:defRPr sz="1500"/>
            </a:pPr>
            <a:r>
              <a:t>• Météo change ? Pas de problème, recalcul instantané</a:t>
            </a:r>
          </a:p>
          <a:p>
            <a:pPr lvl="1">
              <a:spcBef>
                <a:spcPts val="600"/>
              </a:spcBef>
              <a:defRPr sz="1500"/>
            </a:pPr>
            <a:r>
              <a:t>• Passager supplémentaire ? 1 clic, W&amp;B refait</a:t>
            </a:r>
          </a:p>
          <a:p>
            <a:pPr lvl="1">
              <a:spcBef>
                <a:spcPts val="600"/>
              </a:spcBef>
              <a:defRPr sz="1500"/>
            </a:pPr>
            <a:r>
              <a:t>➜ LIBERTÉ de voler quand vous voulez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📈 PROGRESSION ACCÉLÉRÉE</a:t>
            </a:r>
          </a:p>
          <a:p>
            <a:pPr lvl="1">
              <a:spcBef>
                <a:spcPts val="600"/>
              </a:spcBef>
              <a:defRPr sz="1500"/>
            </a:pPr>
            <a:r>
              <a:t>• Plus de temps en vol, moins en paperasse</a:t>
            </a:r>
          </a:p>
          <a:p>
            <a:pPr lvl="1">
              <a:spcBef>
                <a:spcPts val="600"/>
              </a:spcBef>
              <a:defRPr sz="1500"/>
            </a:pPr>
            <a:r>
              <a:t>• Statistiques automatiques (heures PIC, SEP, nuit...)</a:t>
            </a:r>
          </a:p>
          <a:p>
            <a:pPr lvl="1">
              <a:spcBef>
                <a:spcPts val="600"/>
              </a:spcBef>
              <a:defRPr sz="1500"/>
            </a:pPr>
            <a:r>
              <a:t>• Alertes revalidations licences (jamais périmé)</a:t>
            </a:r>
          </a:p>
          <a:p>
            <a:pPr lvl="1">
              <a:spcBef>
                <a:spcPts val="600"/>
              </a:spcBef>
              <a:defRPr sz="1500"/>
            </a:pPr>
            <a:r>
              <a:t>➜ CARRIÈRE de pilote optimisée</a:t>
            </a:r>
          </a:p>
          <a:p>
            <a:pPr>
              <a:spcBef>
                <a:spcPts val="1000"/>
              </a:spcBef>
              <a:defRPr sz="1800"/>
            </a:pPr>
          </a:p>
          <a:p>
            <a:pPr>
              <a:spcBef>
                <a:spcPts val="1000"/>
              </a:spcBef>
              <a:defRPr sz="1800"/>
            </a:pPr>
            <a:r>
              <a:t>💰 RETOUR SUR INVESTISSEMENT</a:t>
            </a:r>
          </a:p>
          <a:p>
            <a:pPr lvl="1">
              <a:spcBef>
                <a:spcPts val="600"/>
              </a:spcBef>
              <a:defRPr sz="1500"/>
            </a:pPr>
            <a:r>
              <a:t>• Abonnement : 9,99€/mois</a:t>
            </a:r>
          </a:p>
          <a:p>
            <a:pPr lvl="1">
              <a:spcBef>
                <a:spcPts val="600"/>
              </a:spcBef>
              <a:defRPr sz="1500"/>
            </a:pPr>
            <a:r>
              <a:t>• Temps gagné par vol : 3h → 0,05h = 2h55 économisées</a:t>
            </a:r>
          </a:p>
          <a:p>
            <a:pPr lvl="1">
              <a:spcBef>
                <a:spcPts val="600"/>
              </a:spcBef>
              <a:defRPr sz="1500"/>
            </a:pPr>
            <a:r>
              <a:t>• Sur 1 an (20 vols) : 58 heures récupérées</a:t>
            </a:r>
          </a:p>
          <a:p>
            <a:pPr lvl="1">
              <a:spcBef>
                <a:spcPts val="600"/>
              </a:spcBef>
              <a:defRPr sz="1500"/>
            </a:pPr>
            <a:r>
              <a:t>➜ Soit 58h × (coût location avion) en vols supplémentaires !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316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Prêt à Révolutionner</a:t>
            </a:r>
          </a:p>
          <a:p>
            <a:pPr algn="ctr">
              <a:spcBef>
                <a:spcPts val="2000"/>
              </a:spcBef>
              <a:defRPr sz="3200">
                <a:solidFill>
                  <a:srgbClr val="FFFFFF"/>
                </a:solidFill>
              </a:defRPr>
            </a:pPr>
            <a:r>
              <a:t>Votre Pratique du Vol ? 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2103</Words>
  <Application>Microsoft Office PowerPoint</Application>
  <PresentationFormat>Personnalisé</PresentationFormat>
  <Paragraphs>25</Paragraphs>
  <Slides>12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Katharina Grünberger</dc:creator>
  <cp:lastModifiedBy>Katharina Grünberger</cp:lastModifiedBy>
  <cp:revision>1</cp:revision>
  <dcterms:created xsi:type="dcterms:W3CDTF">2025-11-20T14:08:55Z</dcterms:created>
  <dcterms:modified xsi:type="dcterms:W3CDTF">2025-11-20T14:08:55Z</dcterms:modified>
</cp:coreProperties>
</file>